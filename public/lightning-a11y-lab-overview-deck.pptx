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delivery risk: late accessibility defects cost rework and release delay. Position the lab as an upstream control, not a replacement for formal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to set expectations: five blocks, ~10 minutes with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to your org: name release train, UAT gate, or accessibility council if applicable.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path: paste sample → run review → export → attach to Jira/Azure DevOps.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minutes, not days—mechanical screening frees specialists for edge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Optional: quantify with your average story cost or UAT defect rate if you have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architecture or security to nod on browser-local processing if that is a buying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one ask: pick a pilot squad and a success metric (e.g., fewer a11y defects in UAT).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0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06040"/>
            <a:ext cx="9144000" cy="2560320"/>
          </a:xfrm>
          <a:prstGeom prst="rect">
            <a:avLst/>
          </a:prstGeom>
          <a:solidFill>
            <a:srgbClr val="72002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417320"/>
            <a:ext cx="2148840" cy="54864"/>
          </a:xfrm>
          <a:prstGeom prst="rect">
            <a:avLst/>
          </a:prstGeom>
          <a:solidFill>
            <a:srgbClr val="FF7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7724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Lightning A11y Lab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94360" y="16276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assurance for Salesforce Lightning teams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21284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8B0"/>
                </a:solidFill>
              </a:rPr>
              <a:t>Executive briefing · WCAG-aligned static analysis · Browser-first privacy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46405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>
                    <a:alpha val="65000"/>
                  </a:srgbClr>
                </a:solidFill>
              </a:rPr>
              <a:t>INTERNAL USE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0" y="46405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D4CF"/>
                </a:solidFill>
              </a:rPr>
              <a:t>Apr 13,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720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E4257"/>
                </a:solidFill>
              </a:rPr>
              <a:t>AT A GLANCE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508760" cy="41148"/>
          </a:xfrm>
          <a:prstGeom prst="rect">
            <a:avLst/>
          </a:prstGeom>
          <a:solidFill>
            <a:srgbClr val="FF7F51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8183880" cy="3063240"/>
        </p:xfrm>
        <a:graphic>
          <a:graphicData uri="http://schemas.openxmlformats.org/drawingml/2006/table">
            <a:tbl>
              <a:tblPr/>
              <a:tblGrid>
                <a:gridCol w="2148840"/>
                <a:gridCol w="6035040"/>
              </a:tblGrid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00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stakeholders get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0026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0A12"/>
                          </a:solidFill>
                        </a:rPr>
                        <a:t>1. Context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3A45"/>
                          </a:solidFill>
                        </a:rPr>
                        <a:t>Why accessibility belongs in the delivery cadence—and what happens when it is late.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0A12"/>
                          </a:solidFill>
                        </a:rPr>
                        <a:t>2. Solution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3A45"/>
                          </a:solidFill>
                        </a:rPr>
                        <a:t>What the lab is, how teams use it in minutes, and how outputs feed governance.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0A12"/>
                          </a:solidFill>
                        </a:rPr>
                        <a:t>3. Value &amp; ROI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3A45"/>
                          </a:solidFill>
                        </a:rPr>
                        <a:t>Faster feedback, clearer handoffs, and hours saved per story before UAT.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0A12"/>
                          </a:solidFill>
                        </a:rPr>
                        <a:t>4. Trust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3A45"/>
                          </a:solidFill>
                        </a:rPr>
                        <a:t>Modern web stack, client-side exports, and WCAG-oriented rules your architects can stand behind.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0A12"/>
                          </a:solidFill>
                        </a:rPr>
                        <a:t>5. Next steps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3A45"/>
                          </a:solidFill>
                        </a:rPr>
                        <a:t>How to pilot with a squad and where to find curated standards and tooling links.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704588"/>
            <a:ext cx="8138160" cy="0"/>
          </a:xfrm>
          <a:prstGeom prst="line">
            <a:avLst/>
          </a:prstGeom>
          <a:noFill/>
          <a:ln w="12700">
            <a:solidFill>
              <a:srgbClr val="E8D4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7777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</a:rPr>
              <a:t>LIGHTNING A11Y LAB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812280" y="47777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Apr 13,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720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E4257"/>
                </a:solidFill>
              </a:rPr>
              <a:t>WHY LEADERS CARE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is a delivery risk—not only a compliance checkbox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508760" cy="41148"/>
          </a:xfrm>
          <a:prstGeom prst="rect">
            <a:avLst/>
          </a:prstGeom>
          <a:solidFill>
            <a:srgbClr val="FF7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8183880" cy="3195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accessibility affects reach, brand trust, and legal exposure when experiences exclude users.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discovered after UAT or in production force expensive rework, calendar slips, and audit findings.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left with a repeatable first pass reduces surprise work and aligns engineering, QA, and governance on WCAG language.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4119372"/>
            <a:ext cx="8183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8D4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21081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E4257"/>
                </a:solidFill>
              </a:rPr>
              <a:t>KEY TAKEAWAY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5800" y="4393692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accessibility like quality: instrument the pipeline early; reserve specialists for judgment and sign-off.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704588"/>
            <a:ext cx="8138160" cy="0"/>
          </a:xfrm>
          <a:prstGeom prst="line">
            <a:avLst/>
          </a:prstGeom>
          <a:noFill/>
          <a:ln w="12700">
            <a:solidFill>
              <a:srgbClr val="E8D4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7777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</a:rPr>
              <a:t>LIGHTNING A11Y LAB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12280" y="47777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Apr 13,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720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E4257"/>
                </a:solidFill>
              </a:rPr>
              <a:t>PRODUCT OVERVIEW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lab built for Lightning markup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508760" cy="41148"/>
          </a:xfrm>
          <a:prstGeom prst="rect">
            <a:avLst/>
          </a:prstGeom>
          <a:solidFill>
            <a:srgbClr val="FF7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89888"/>
            <a:ext cx="8183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LWC, Aura, or mixed Lightning markup; choose WCAG level (A / AA / AAA) and version (2.1 or 2.2); run static analysis in the browser.</a:t>
            </a:r>
            <a:endParaRPr lang="en-US" sz="1450" dirty="0"/>
          </a:p>
          <a:p>
            <a:pPr indent="0" marL="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structured findings with severity, context, and remediation hints—without sending source to a backend by default.</a:t>
            </a:r>
            <a:endParaRPr lang="en-US" sz="1450" dirty="0"/>
          </a:p>
          <a:p>
            <a:pPr indent="0" marL="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JSON, Word, or PDF for tickets, release notes, and evidence packs; pair with the Learn &amp; Resources hub for standards links.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4119372"/>
            <a:ext cx="8183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8D4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21081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E4257"/>
                </a:solidFill>
              </a:rPr>
              <a:t>KEY TAKEAWAY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5800" y="4393692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console for developers and QA before formal accessibility review.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704588"/>
            <a:ext cx="8138160" cy="0"/>
          </a:xfrm>
          <a:prstGeom prst="line">
            <a:avLst/>
          </a:prstGeom>
          <a:noFill/>
          <a:ln w="12700">
            <a:solidFill>
              <a:srgbClr val="E8D4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7777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</a:rPr>
              <a:t>LIGHTNING A11Y LAB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12280" y="47777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Apr 13,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720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E4257"/>
                </a:solidFill>
              </a:rPr>
              <a:t>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fold the lab into the cadence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508760" cy="41148"/>
          </a:xfrm>
          <a:prstGeom prst="rect">
            <a:avLst/>
          </a:prstGeom>
          <a:solidFill>
            <a:srgbClr val="FF7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8183880" cy="3195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development: quick scan on markup changes before pull request or feature review.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hardening: batch larger templates and shared components for consistent WCAG language.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QA: export structured results to work items; pair with manual keyboard and screen-reader spot checks.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4704588"/>
            <a:ext cx="8138160" cy="0"/>
          </a:xfrm>
          <a:prstGeom prst="line">
            <a:avLst/>
          </a:prstGeom>
          <a:noFill/>
          <a:ln w="12700">
            <a:solidFill>
              <a:srgbClr val="E8D4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7777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</a:rPr>
              <a:t>LIGHTNING A11Y LAB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12280" y="47777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Apr 13,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720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E4257"/>
                </a:solidFill>
              </a:rPr>
              <a:t>OUTCOMES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Velocity, clarity, and hours back to the team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508760" cy="41148"/>
          </a:xfrm>
          <a:prstGeom prst="rect">
            <a:avLst/>
          </a:prstGeom>
          <a:solidFill>
            <a:srgbClr val="FF7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8183880" cy="3195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feedback: immediate findings versus waiting for audit slots or long manual checklists.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handoffs: explicit WCAG targets every run; exports map cleanly to tickets and email.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Privacy-friendly default: analysis runs locally—important for client or pre-release markup.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screening across large snippets cuts rework cycles—often saving hours per story when issues are caught early.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4119372"/>
            <a:ext cx="8183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8D4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21081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E4257"/>
                </a:solidFill>
              </a:rPr>
              <a:t>KEY TAKEAWAY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5800" y="4393692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minutes upstream to avoid multi-day firefights downstream.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704588"/>
            <a:ext cx="8138160" cy="0"/>
          </a:xfrm>
          <a:prstGeom prst="line">
            <a:avLst/>
          </a:prstGeom>
          <a:noFill/>
          <a:ln w="12700">
            <a:solidFill>
              <a:srgbClr val="E8D4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7777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</a:rPr>
              <a:t>LIGHTNING A11Y LAB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12280" y="47777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Apr 13,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720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E4257"/>
                </a:solidFill>
              </a:rPr>
              <a:t>ARCHITECTURE CREDIBILITY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stack · Client-side exports · WCAG-oriented engine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508760" cy="41148"/>
          </a:xfrm>
          <a:prstGeom prst="rect">
            <a:avLst/>
          </a:prstGeom>
          <a:solidFill>
            <a:srgbClr val="FF7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8183880" cy="31958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&amp; TypeScript UI; Vite builds; React Router for marketing, review, and Learn &amp; Resources.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and docx generate PDF and Word on the client—suitable for attachment to governance workflows.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5C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engine: WCAG-oriented rules, contrast heuristics where parseable, SLDS-friendly patterns—complements assistive-tech testing.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4704588"/>
            <a:ext cx="8138160" cy="0"/>
          </a:xfrm>
          <a:prstGeom prst="line">
            <a:avLst/>
          </a:prstGeom>
          <a:noFill/>
          <a:ln w="12700">
            <a:solidFill>
              <a:srgbClr val="E8D4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7777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</a:rPr>
              <a:t>LIGHTNING A11Y LAB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12280" y="47777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Apr 13,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F0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60120"/>
            <a:ext cx="2834640" cy="50292"/>
          </a:xfrm>
          <a:prstGeom prst="rect">
            <a:avLst/>
          </a:prstGeom>
          <a:solidFill>
            <a:srgbClr val="FF7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B4BC"/>
                </a:solidFill>
              </a:rPr>
              <a:t>Recommended 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Move from pilot to practice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8138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npm run dev, open Review console, and try a real component from your backlog.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squads to Learn &amp; Resources for WCAG, SLDS, Trailhead, and browser tooling.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4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this deck any time: npm run ppt:overview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2748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Thank you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80760" y="43388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9A8B0"/>
                </a:solidFill>
              </a:rPr>
              <a:t>LIGHTNING A11Y LAB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Lightning A11y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Lightning A11y Lab — Executive overview</dc:title>
  <dc:subject>Accessibility assurance for Salesforce Lightning delivery</dc:subject>
  <dc:creator>Lightning A11y Lab</dc:creator>
  <cp:lastModifiedBy>Lightning A11y Lab</cp:lastModifiedBy>
  <cp:revision>1</cp:revision>
  <dcterms:created xsi:type="dcterms:W3CDTF">2026-04-13T10:41:54Z</dcterms:created>
  <dcterms:modified xsi:type="dcterms:W3CDTF">2026-04-13T10:41:54Z</dcterms:modified>
</cp:coreProperties>
</file>